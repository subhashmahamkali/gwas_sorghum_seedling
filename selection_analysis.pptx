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3568" y="274320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4736" y="274320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75904" y="274320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7072" y="274320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74320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475488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73568" y="475488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74736" y="475488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5904" y="475488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475488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475488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676656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676656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676656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676656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7072" y="676656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676656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877824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3568" y="877824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4736" y="877824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5904" y="877824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7072" y="877824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877824"/>
            <a:ext cx="73152" cy="73152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ANALYSIS IN SORGHUM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14630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Selection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Positive Selection</a:t>
            </a:r>
            <a:endParaRPr lang="en-US" sz="40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1828800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Domestication trajectory: Wild → Landrace → Improved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Sorghum bicolor  |  SorGSD 289-sample panel  |  V5 genome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Subhash Mahamkali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20624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BalLeRMix v2.5 (B2 statistic)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loci where diversity is actively maintained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Outgroup: S. propinquum (3 samples)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allele frequency spectrum → B2 score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all 3 populations: Wild, Landrace, Improved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B2 → 60 shared loci across all populations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420624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vcftools (windowed FST) + XPCLR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selective sweeps during domestication / breeding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comparisons: Wild vs Landrace, Landrace vs Improved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top 1% → TB1 (domestication) and sh1 (breeding)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XPCLR: 25kb windows, LD-aware composite likelihood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allele frequency divergence between populations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System: Populations &amp;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011680" cy="5029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Sorghum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bicolor ssp.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arundinaceum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777240"/>
            <a:ext cx="201168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353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18745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77240"/>
            <a:ext cx="201168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Lines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353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777240"/>
            <a:ext cx="2011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777240"/>
            <a:ext cx="201168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Outgroup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1353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95160" y="18745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propinquum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(ancestral allele)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59152" y="1965960"/>
            <a:ext cx="155448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ysDot"/>
          </a:ln>
        </p:spPr>
      </p:sp>
      <p:sp>
        <p:nvSpPr>
          <p:cNvPr id="25" name="Text 23"/>
          <p:cNvSpPr/>
          <p:nvPr/>
        </p:nvSpPr>
        <p:spPr>
          <a:xfrm>
            <a:off x="2286000" y="2176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99432" y="1965960"/>
            <a:ext cx="155448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4526280" y="2176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VCF: </a:t>
            </a:r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SorGSD.289snp.imputed.V5.vcf  |  </a:t>
            </a:r>
            <a:pPr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BTx623 genome V5  |  </a:t>
            </a:r>
            <a:pPr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 filtering: </a:t>
            </a:r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5% missing, biallelic, VCF quality-filtered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vcftools, BalLeRMix v2.5 (Python), XPCLR, bedtools, SLURM (HCC UNL cluster)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788920"/>
            <a:ext cx="8823960" cy="45720"/>
          </a:xfrm>
          <a:prstGeom prst="rect">
            <a:avLst/>
          </a:prstGeom>
          <a:solidFill>
            <a:srgbClr val="52B78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Selection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statistic via BalLeRMix v2.5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9184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balancing selection?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selection that actively maintains two or more alleles in a population — preventing any single allele from fixing. The B2 statistic detects sites where allele frequencies are too intermediate to be explained by neutral drift alone.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Identifying the Ancestral Allele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2120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21208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Outgroup-Based Inference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S. propinquum (n=3) samples from the VCF using vcftools --keep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allele frequencies at every variant site with vcftools --freq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biallelic SNP, the allele at higher frequency in S. propinquum is assigned as the ancestral allele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the outgroup is diverged from S. bicolor before domestication, so its majority allele best represents the ancestral state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Sorghum_ancestral_allele_V3.1.txt (chr, pos, ancestral_allele)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777240"/>
            <a:ext cx="3246120" cy="1920240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822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outgroup?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2070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BalLeRMix requires knowing which allele is derived (new) vs. ancestral (original). Without polarizing alleles using an outgroup, the B2 statistic cannot distinguish balancing selection from other processes.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834640"/>
            <a:ext cx="3246120" cy="20574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code (key logic)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3218688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d1[, ancestral_allele :=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ifelse(Freq1 &gt;= Freq2,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allele1, allele2)]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BalLeRMix Pipeline — Computing B2 Scores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5039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868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Derived Alleles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SNP, identify how many alleles in the focal population (wild or improved) differ from the ancestral allele → derived count x, total count 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85039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50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30752" y="868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BalLeRMix Input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3075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chromosome: physPos, genePos (pos/1Mb), x (derived count), n (total). Filter monomorphic sites (x&gt;0 and x&lt;n)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5039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50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56832" y="868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SFS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3075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BalLeRMix --getSpect per chromosome to compute the Site Frequency Spectrum (SFS), which captures the neutral expectation for allele frequencies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0779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B2 Scores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3649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5,000-variant chunk: BalLeRMix compares each site's derived frequency against the SFS. High B2 → allele freq too intermediate to be neutral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90779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30752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Array Jobs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3649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chromosome split into ~5k-variant chunks. Jobs submitted as arrays (e.g. chr1: 878 jobs, chr2: 1,114 jobs). Results merged per-chr, then genome-wide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0779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56832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Filtering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3649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all chromosomes into one file → identify top 1% B2 threshold → extract candidate variants for downstream overlap analysis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Candidate Filtering &amp; Shared Loci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2120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21208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bedtools Overlap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B2 sites per population → BED file of candidate positions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each candidate ±40 kb to define a locus window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bedtools merge -d 40000: merge nearby windows (prevent double-counting)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bedtools intersect Wild ∩ Landrace → 137 overlapping loci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bedtools intersect (W∩L) ∩ Improved → 60 conserved loci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SNP per locus: highest B2 score within each locus window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60 loci are under balancing selection throughout the entire domestication and improvement trajectory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777240"/>
            <a:ext cx="32461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777240"/>
            <a:ext cx="164592" cy="12344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5925312" y="8503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25312" y="1463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top 1%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167128"/>
            <a:ext cx="32461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167128"/>
            <a:ext cx="164592" cy="12344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25312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925312" y="2852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∩ Landrace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loci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3557016"/>
            <a:ext cx="32461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3557016"/>
            <a:ext cx="164592" cy="12344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36301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925312" y="42428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populations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4617720"/>
            <a:ext cx="3246120" cy="4754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intersected with reference gene BED file to identify candidate genes within each locus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Selection: Manhattan Plot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Plot (B2 Score)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3749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genome position (Mb) across 10 chromosomes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B2 score — higher = stronger balancing selection signal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panels: Wild (top), Landrace (middle), Improved (bottom)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= top 1% threshold per panel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dots = annotated candidate genes (ion, nitrogen, stress)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vertical lines connect shared loci across panels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figure generated in R (base graphics) saved as high-res TIFF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777240"/>
            <a:ext cx="44805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868680"/>
            <a:ext cx="4206240" cy="1143000"/>
          </a:xfrm>
          <a:prstGeom prst="rect">
            <a:avLst/>
          </a:prstGeom>
          <a:solidFill>
            <a:srgbClr val="F8F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96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(n=50)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36502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4860" y="155005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70024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2020" y="157290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253716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9180" y="126113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48104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06340" y="130600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27317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0" y="158177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46357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80660" y="151420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46930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7820" y="129750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718092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4980" y="171666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176028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92140" y="125050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53274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9300" y="132297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415782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66460" y="161255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128853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03620" y="163666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127748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0780" y="154038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137436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7940" y="161854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178192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5100" y="128767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163946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52260" y="176214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134412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9420" y="171545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123212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26580" y="137341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136265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63740" y="131016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120694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00900" y="176595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69480" y="121469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38060" y="162643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06640" y="1657685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75220" y="136780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43800" y="158003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12380" y="130037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0960" y="163414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49540" y="165968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18120" y="120260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86700" y="165558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55280" y="138458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23860" y="119459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92440" y="142355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61020" y="160322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29600" y="128245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98180" y="139021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66760" y="121584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35340" y="141527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03920" y="167925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72500" y="141473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80560" y="1554480"/>
            <a:ext cx="42062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4480560" y="2167128"/>
            <a:ext cx="4206240" cy="1143000"/>
          </a:xfrm>
          <a:prstGeom prst="rect">
            <a:avLst/>
          </a:prstGeom>
          <a:solidFill>
            <a:srgbClr val="F8F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Landrace (n=107)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26280" y="307815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94860" y="297458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63440" y="276401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32020" y="267621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00600" y="262362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69180" y="246282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37760" y="261813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06340" y="288742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74920" y="267586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43500" y="278664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12080" y="260528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280660" y="251820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49240" y="275475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17820" y="282838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274640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54980" y="297132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623560" y="260605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92140" y="304916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760720" y="266623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829300" y="304237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97880" y="271482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66460" y="250541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35040" y="271469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03620" y="285194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72200" y="287747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240780" y="261899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09360" y="303802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377940" y="263235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446520" y="262788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515100" y="252244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583680" y="304082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52260" y="291523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20840" y="248138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89420" y="263541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58000" y="2662670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926580" y="288442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95160" y="291706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63740" y="306951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132320" y="304471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200900" y="258247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269480" y="275033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338060" y="308116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50334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5220" y="282913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543800" y="2915029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612380" y="247145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680960" y="284790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749540" y="272837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818120" y="278920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886700" y="275333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955280" y="257230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23860" y="297773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92440" y="300772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161020" y="250304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29600" y="300542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98180" y="272536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366760" y="259468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435340" y="274205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503920" y="264368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72500" y="256555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480560" y="2852928"/>
            <a:ext cx="42062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</a:ln>
        </p:spPr>
      </p:sp>
      <p:sp>
        <p:nvSpPr>
          <p:cNvPr id="135" name="Shape 133"/>
          <p:cNvSpPr/>
          <p:nvPr/>
        </p:nvSpPr>
        <p:spPr>
          <a:xfrm>
            <a:off x="4480560" y="3465576"/>
            <a:ext cx="4206240" cy="1143000"/>
          </a:xfrm>
          <a:prstGeom prst="rect">
            <a:avLst/>
          </a:prstGeom>
          <a:solidFill>
            <a:srgbClr val="F8FA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572000" y="3493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(n=129)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4526280" y="429316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594860" y="388735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663440" y="3934071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32020" y="409881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00600" y="383091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69180" y="401614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937760" y="396128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06340" y="431987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74920" y="392585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143500" y="394988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12080" y="436687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80660" y="397212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49240" y="436721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17820" y="427069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86400" y="398130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54980" y="388393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623560" y="432000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692140" y="379161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760720" y="389929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29300" y="390276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97880" y="406311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66460" y="388749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35040" y="410884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03620" y="391944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72200" y="4339379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240780" y="3854126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309360" y="423326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377940" y="377984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46520" y="437643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515100" y="4287166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583680" y="422720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652260" y="398034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20840" y="4039014"/>
            <a:ext cx="45720" cy="457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789420" y="398358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58000" y="414612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926580" y="417584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95160" y="403539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063740" y="415652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132320" y="392621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200900" y="436158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269480" y="433948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338060" y="394600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06640" y="3761452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75220" y="378807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543800" y="433908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612380" y="381042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680960" y="424966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749540" y="4104189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818120" y="417415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886700" y="413649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955280" y="4115707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023860" y="3791458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092440" y="376446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161020" y="418812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229600" y="421633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298180" y="3878685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366760" y="4162760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435340" y="3912821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503920" y="3933623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572500" y="4096544"/>
            <a:ext cx="45720" cy="45720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480560" y="4151376"/>
            <a:ext cx="42062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</a:ln>
        </p:spPr>
      </p:sp>
      <p:sp>
        <p:nvSpPr>
          <p:cNvPr id="198" name="Shape 196"/>
          <p:cNvSpPr/>
          <p:nvPr/>
        </p:nvSpPr>
        <p:spPr>
          <a:xfrm>
            <a:off x="4389120" y="4773168"/>
            <a:ext cx="4480560" cy="2286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99" name="Text 197"/>
          <p:cNvSpPr/>
          <p:nvPr/>
        </p:nvSpPr>
        <p:spPr>
          <a:xfrm>
            <a:off x="4434840" y="47731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— actual figure: balancing_plot.tiff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Domestication Trajectory: Allele Frequency Tracking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Tracked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60 shared loci, identified the 'leading SNP' (highest B2 score in each locus)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Minor Allele Frequency (MAF) for each leading SNP in all 3 populations using vcftools --freq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how MAF changed along the domestication trajectory: Wild → Landrace → Improved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under balancing selection: MAF should stay intermediate (~0.2-0.5) across all populations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average MAF remains stable — the 60 loci maintained diversity across 10,000+ years of domestication and breeding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2976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MAF Trajectory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4480560"/>
            <a:ext cx="3657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188720"/>
            <a:ext cx="0" cy="32918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4434840"/>
            <a:ext cx="0" cy="914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4434840"/>
            <a:ext cx="0" cy="914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4434840"/>
            <a:ext cx="0" cy="914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5400000">
            <a:off x="4617720" y="2560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027620"/>
            <a:ext cx="1097280" cy="24425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3271870"/>
            <a:ext cx="1097280" cy="-3661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285814"/>
            <a:ext cx="1097280" cy="1381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3299630"/>
            <a:ext cx="1097280" cy="-19910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919179"/>
            <a:ext cx="1097280" cy="23813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3157315"/>
            <a:ext cx="1097280" cy="8343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256260"/>
            <a:ext cx="1097280" cy="-14573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110524"/>
            <a:ext cx="1097280" cy="-19350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096698"/>
            <a:ext cx="1097280" cy="272458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3369156"/>
            <a:ext cx="1097280" cy="122473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2917727"/>
            <a:ext cx="1097280" cy="-272977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2644750"/>
            <a:ext cx="1097280" cy="-138135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397660"/>
            <a:ext cx="1097280" cy="-223047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3174613"/>
            <a:ext cx="1097280" cy="-131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974268"/>
            <a:ext cx="1097280" cy="-83157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2891111"/>
            <a:ext cx="1097280" cy="50963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3207291"/>
            <a:ext cx="1097280" cy="-22407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2983221"/>
            <a:ext cx="1097280" cy="7160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548827"/>
            <a:ext cx="1097280" cy="23946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2788286"/>
            <a:ext cx="1097280" cy="175541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3637256"/>
            <a:ext cx="1097280" cy="-226347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3410909"/>
            <a:ext cx="1097280" cy="59168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3691102"/>
            <a:ext cx="1097280" cy="-173275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3760" y="3517828"/>
            <a:ext cx="1097280" cy="5055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3120942"/>
            <a:ext cx="1097280" cy="-179749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23760" y="2941193"/>
            <a:ext cx="1097280" cy="135739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2970959"/>
            <a:ext cx="1097280" cy="55077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3026036"/>
            <a:ext cx="1097280" cy="-43401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2383312"/>
            <a:ext cx="1097280" cy="25965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3760" y="2642968"/>
            <a:ext cx="1097280" cy="-208966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2390399"/>
            <a:ext cx="1097280" cy="97228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2487627"/>
            <a:ext cx="1097280" cy="139174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3331453"/>
            <a:ext cx="1097280" cy="-106742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23760" y="3224711"/>
            <a:ext cx="1097280" cy="-23105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2810078"/>
            <a:ext cx="1097280" cy="182475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0" y="2992553"/>
            <a:ext cx="1097280" cy="3474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26480" y="2548077"/>
            <a:ext cx="1097280" cy="17230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23760" y="2565307"/>
            <a:ext cx="1097280" cy="-249483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26480" y="3508349"/>
            <a:ext cx="1097280" cy="-265092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23760" y="3243257"/>
            <a:ext cx="1097280" cy="154128"/>
          </a:xfrm>
          <a:prstGeom prst="line">
            <a:avLst/>
          </a:prstGeom>
          <a:noFill/>
          <a:ln w="635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3063240"/>
            <a:ext cx="1097280" cy="4572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62472" y="2999232"/>
            <a:ext cx="128016" cy="12801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23760" y="3108960"/>
            <a:ext cx="1097280" cy="4572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59752" y="3044952"/>
            <a:ext cx="128016" cy="12801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57032" y="3090672"/>
            <a:ext cx="128016" cy="12801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MAF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09360" y="3136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SNPs (n=60)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788920"/>
            <a:ext cx="8823960" cy="45720"/>
          </a:xfrm>
          <a:prstGeom prst="rect">
            <a:avLst/>
          </a:prstGeom>
          <a:solidFill>
            <a:srgbClr val="E07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Selection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FST (vcftools) + XPCLR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9184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positive selection?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allele confers a fitness advantage, it rises in frequency rapidly — leaving a characteristic 'sweep' signature of reduced diversity flanking the selected site. We detect sweeps by comparing allele frequency differentiation between populations (FST, XPCLR).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Selection: Windowed FST (vcftools)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5029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vs. Landrace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wild sorghum to landraces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allele frequency shifts during the initial domestication event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FST threshold = 0.430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landmark gene: TB1 (plant architecture domestication locus, chr7)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160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416052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Breeding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0241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Landrace vs. Improved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335024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landraces to modern improved varieties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allele frequency shifts during formal breeding programs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FST threshold = 0.240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landmark gene: sh1 (seed shattering locus, chr1)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8595360" cy="1261872"/>
          </a:xfrm>
          <a:prstGeom prst="rect">
            <a:avLst/>
          </a:prstGeom>
          <a:solidFill>
            <a:srgbClr val="D8F3D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vcftools --weir-fst-pop  |  </a:t>
            </a:r>
            <a:pPr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</a:t>
            </a:r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kb sliding with 5 kb step  |  </a:t>
            </a:r>
            <a:pPr indent="0" marL="0">
              <a:buNone/>
            </a:pPr>
            <a:r>
              <a:rPr lang="en-US" sz="13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Statistic: </a:t>
            </a:r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Weir &amp; Cockerham weighted FST  |  Plotted as genome-wide Manhattan plot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genes annotated using gene coordinate BED file and sorghum gene descriptions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Selection: XPCLR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2120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212080" cy="4114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XPCLR — Cross-Population CLR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comparisons: (1) Landrace vs. Wild [domestication]  (2) Improved vs. Landrace [breeding]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approach: 25 kb windows, 5 kb step size, max 200 SNPs/window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LD-aware: correlated SNPs down-weighted (LD cutoff r²=0.95) to avoid inflation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Recombination fallback: 1×10⁻⁸ per bp when no genetic map available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phased/imputed VCF (.vcf.gz) + sample lists per population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XPCLR score per window (higher = stronger sweep signal in 'A' vs 'B' population)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run as SLURM array (chr 1–10), then merged into one genome-wide file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windows → candidate selective sweep regions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777240"/>
            <a:ext cx="3246120" cy="201168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822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1887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--size 25000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--step 5000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--maxsnps 200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--ld 0.95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--rrate 1e-8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--format vcf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926080"/>
            <a:ext cx="32461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29718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vs. XPCLR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291840"/>
          <a:ext cx="3246120" cy="155448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14300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XPCLR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LD-aware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Selection: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3657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vs Landrace (Domestication)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269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4063" y="304739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0926" y="2737651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7789" y="358268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" y="338686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515" y="358409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378" y="2705542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5241" y="2801672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" y="348594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8967" y="318964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5830" y="2596101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2693" y="324828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9556" y="296123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6419" y="355916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3282" y="294743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0145" y="2731046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361674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3871" y="352895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0734" y="355150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47597" y="340669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94460" y="2658053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41323" y="363259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88186" y="336228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35049" y="333045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912" y="333469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28775" y="310303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75638" y="344948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22501" y="307303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69364" y="362481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16227" y="285705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63090" y="362546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09953" y="302947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6816" y="341198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03679" y="286158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50542" y="340760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97405" y="347051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44268" y="360089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1131" y="288429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37994" y="284190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4857" y="2750664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31720" y="330881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8583" y="2555625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25446" y="306294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2309" y="2783507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19172" y="2668837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6035" y="2696046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12898" y="296512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59761" y="2823909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06624" y="347095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53487" y="346677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00350" y="358098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47213" y="2588314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94076" y="2727327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40939" y="307149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87802" y="309749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34665" y="359751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81528" y="2555848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28391" y="316479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75254" y="366884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22117" y="311739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68980" y="343284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15843" y="337546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62706" y="292340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09569" y="2604986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56432" y="321918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03295" y="339291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50158" y="328001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97021" y="304745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43884" y="2793652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0747" y="349917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37610" y="302099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84473" y="2637508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31336" y="302449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878199" y="349924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925062" y="351217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971925" y="2791012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18788" y="2799198"/>
            <a:ext cx="36576" cy="36576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065651" y="323631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12514" y="320858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59377" y="289772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894076" y="1325880"/>
            <a:ext cx="91440" cy="91440"/>
          </a:xfrm>
          <a:prstGeom prst="ellipse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39796" y="1417320"/>
            <a:ext cx="0" cy="22860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457200" y="1746504"/>
            <a:ext cx="3749040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dash"/>
          </a:ln>
        </p:spPr>
      </p:sp>
      <p:sp>
        <p:nvSpPr>
          <p:cNvPr id="90" name="Text 88"/>
          <p:cNvSpPr/>
          <p:nvPr/>
        </p:nvSpPr>
        <p:spPr>
          <a:xfrm>
            <a:off x="3017520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&gt; 0.43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137160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 rot="5400000">
            <a:off x="3200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65760" y="3840480"/>
            <a:ext cx="3977640" cy="9144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94" name="Shape 92"/>
          <p:cNvSpPr/>
          <p:nvPr/>
        </p:nvSpPr>
        <p:spPr>
          <a:xfrm>
            <a:off x="457200" y="3913632"/>
            <a:ext cx="164592" cy="164592"/>
          </a:xfrm>
          <a:prstGeom prst="ellipse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5800" y="38587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TB1 — known domestication gene (plant branching architecture, chr7)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4663440" y="777240"/>
            <a:ext cx="4160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4663440" y="777240"/>
            <a:ext cx="4160520" cy="3657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8" name="Text 96"/>
          <p:cNvSpPr/>
          <p:nvPr/>
        </p:nvSpPr>
        <p:spPr>
          <a:xfrm>
            <a:off x="4736592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Landrace vs Improved (Breeding)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4846320" y="2779104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893183" y="342858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40046" y="284344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86909" y="334258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033772" y="347001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080635" y="338157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27498" y="2673024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74361" y="2545317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21224" y="2634594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68087" y="328471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314950" y="359435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61813" y="305336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08676" y="324235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55539" y="307016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02402" y="2748148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49265" y="335672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96128" y="345424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642991" y="354201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689854" y="350927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36717" y="315316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83580" y="291744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830443" y="2689488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877306" y="334174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24169" y="300313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71032" y="347320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17895" y="357921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064758" y="325679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11621" y="330230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58484" y="349533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205347" y="331584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52210" y="327004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99073" y="312008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345936" y="339858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392799" y="326285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39662" y="340584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486525" y="358634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33388" y="358791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80251" y="301339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27114" y="325893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673977" y="342777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20840" y="361370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67703" y="2687653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814566" y="364210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861429" y="2705320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908292" y="334127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955155" y="2620345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002018" y="2692034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48881" y="2547501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095744" y="295768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42607" y="363435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89470" y="321888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236333" y="339697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283196" y="324317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30059" y="3395466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76922" y="334339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423785" y="289277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470648" y="299289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517511" y="2636802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564374" y="3363879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611237" y="2725351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658100" y="318675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04963" y="356015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751826" y="2681503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798689" y="3491690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845552" y="2720855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892415" y="365148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39278" y="290205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86141" y="3631823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033004" y="3295014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079867" y="349472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126730" y="306845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173593" y="2771431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220456" y="3526012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267319" y="348670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14182" y="302000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361045" y="3125951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407908" y="3284738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54771" y="3567155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01634" y="2763165"/>
            <a:ext cx="36576" cy="3657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48497" y="2962567"/>
            <a:ext cx="36576" cy="3657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296205" y="1325880"/>
            <a:ext cx="91440" cy="91440"/>
          </a:xfrm>
          <a:prstGeom prst="ellipse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341925" y="1417320"/>
            <a:ext cx="0" cy="22860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>
            <a:off x="4846320" y="1746504"/>
            <a:ext cx="3749040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dash"/>
          </a:ln>
        </p:spPr>
      </p:sp>
      <p:sp>
        <p:nvSpPr>
          <p:cNvPr id="182" name="Text 180"/>
          <p:cNvSpPr/>
          <p:nvPr/>
        </p:nvSpPr>
        <p:spPr>
          <a:xfrm>
            <a:off x="7406640" y="1545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&gt; 0.24</a:t>
            </a:r>
            <a:endParaRPr lang="en-US" sz="1000" dirty="0"/>
          </a:p>
        </p:txBody>
      </p:sp>
      <p:sp>
        <p:nvSpPr>
          <p:cNvPr id="183" name="Text 181"/>
          <p:cNvSpPr/>
          <p:nvPr/>
        </p:nvSpPr>
        <p:spPr>
          <a:xfrm>
            <a:off x="576072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</a:t>
            </a:r>
            <a:endParaRPr lang="en-US" sz="1000" dirty="0"/>
          </a:p>
        </p:txBody>
      </p:sp>
      <p:sp>
        <p:nvSpPr>
          <p:cNvPr id="184" name="Text 182"/>
          <p:cNvSpPr/>
          <p:nvPr/>
        </p:nvSpPr>
        <p:spPr>
          <a:xfrm rot="5400000">
            <a:off x="47091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</a:t>
            </a:r>
            <a:endParaRPr lang="en-US" sz="1000" dirty="0"/>
          </a:p>
        </p:txBody>
      </p:sp>
      <p:sp>
        <p:nvSpPr>
          <p:cNvPr id="185" name="Shape 183"/>
          <p:cNvSpPr/>
          <p:nvPr/>
        </p:nvSpPr>
        <p:spPr>
          <a:xfrm>
            <a:off x="4754880" y="3840480"/>
            <a:ext cx="3977640" cy="91440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86" name="Shape 184"/>
          <p:cNvSpPr/>
          <p:nvPr/>
        </p:nvSpPr>
        <p:spPr>
          <a:xfrm>
            <a:off x="4846320" y="3913632"/>
            <a:ext cx="164592" cy="164592"/>
          </a:xfrm>
          <a:prstGeom prst="ellipse">
            <a:avLst/>
          </a:prstGeom>
          <a:solidFill>
            <a:srgbClr val="0047FF"/>
          </a:solidFill>
          <a:ln w="12700">
            <a:solidFill>
              <a:srgbClr val="0047F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074920" y="38587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 — seed shattering locus, critical for harvest, chr1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2286000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4114800" cy="3886200"/>
          </a:xfrm>
          <a:prstGeom prst="rect">
            <a:avLst/>
          </a:prstGeom>
          <a:solidFill>
            <a:srgbClr val="2D6A4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05840"/>
            <a:ext cx="4114800" cy="4572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Selection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BalLeRMix B2 statistic on 3 populations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allele polarized using S. propinquum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loci under balancing selection across Wild → Landrace → Improved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stayed intermediate (~0.3) throughout the entire domestication history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loci likely encode functionally important genes where diversity is adaptive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3886200"/>
          </a:xfrm>
          <a:prstGeom prst="rect">
            <a:avLst/>
          </a:prstGeom>
          <a:solidFill>
            <a:srgbClr val="2D6A4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005840"/>
            <a:ext cx="411480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Selection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windowed FST + XPCLR across domestication &amp; breeding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Domestication sweep: TB1 (branching, chr7) in Wild vs Landrace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sweep: sh1 (seed shattering, chr1) in Landrace vs Improved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XPCLR is LD-aware and more powerful than simple FST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with GWAS signals shows selection targeted agronomic traits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52B788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Subhash Mahamkali  |  Sorghum Selection Analysis  |  jyanglab @ UNL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Analysis in Sorghum</dc:title>
  <dc:subject>PptxGenJS Presentation</dc:subject>
  <dc:creator>Subhash</dc:creator>
  <cp:lastModifiedBy>Subhash</cp:lastModifiedBy>
  <cp:revision>1</cp:revision>
  <dcterms:created xsi:type="dcterms:W3CDTF">2026-03-12T03:23:19Z</dcterms:created>
  <dcterms:modified xsi:type="dcterms:W3CDTF">2026-03-12T03:23:19Z</dcterms:modified>
</cp:coreProperties>
</file>